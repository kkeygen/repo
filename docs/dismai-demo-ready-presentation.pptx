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04088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500" b="1">
                <a:solidFill>
                  <a:srgbClr val="F1EEE8"/>
                </a:solidFill>
                <a:latin typeface="Microsoft YaHei"/>
              </a:defRPr>
            </a:pPr>
            <a:r>
              <a:t>万花筒 Dismai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27632"/>
            <a:ext cx="78638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DAAE5C"/>
                </a:solidFill>
                <a:latin typeface="Microsoft YaHei"/>
              </a:defRPr>
            </a:pPr>
            <a:r>
              <a:t>高并发在线票务系统演示与分布式可靠性答辩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6126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B1B8C5"/>
                </a:solidFill>
                <a:latin typeface="Microsoft YaHei"/>
              </a:defRPr>
            </a:pPr>
            <a:r>
              <a:t>分布式软件原理与技术课程展示</a:t>
            </a:r>
          </a:p>
          <a:p>
            <a:pPr>
              <a:spcAft>
                <a:spcPts val="400"/>
              </a:spcAft>
              <a:defRPr sz="1800">
                <a:solidFill>
                  <a:srgbClr val="B1B8C5"/>
                </a:solidFill>
                <a:latin typeface="Microsoft YaHei"/>
              </a:defRPr>
            </a:pPr>
            <a:r>
              <a:t>核心问题：防刷、锁座、异步建单、故障降级</a:t>
            </a:r>
          </a:p>
          <a:p>
            <a:pPr>
              <a:spcAft>
                <a:spcPts val="400"/>
              </a:spcAft>
              <a:defRPr sz="1800">
                <a:solidFill>
                  <a:srgbClr val="B1B8C5"/>
                </a:solidFill>
                <a:latin typeface="Microsoft YaHei"/>
              </a:defRPr>
            </a:pPr>
            <a:r>
              <a:t>验证状态：前端/后端 Docker 构建路径已通过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051560"/>
            <a:ext cx="356616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051560"/>
            <a:ext cx="54864" cy="4389120"/>
          </a:xfrm>
          <a:prstGeom prst="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82712" y="1179576"/>
            <a:ext cx="32461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Demo 关注点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9288" y="1581912"/>
            <a:ext cx="3200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700">
                <a:solidFill>
                  <a:srgbClr val="B1B8C5"/>
                </a:solidFill>
                <a:latin typeface="Microsoft YaHei"/>
              </a:defRPr>
            </a:pPr>
            <a:r>
              <a:t>用户登录/浏览节目</a:t>
            </a:r>
          </a:p>
          <a:p>
            <a:pPr>
              <a:spcAft>
                <a:spcPts val="300"/>
              </a:spcAft>
              <a:defRPr sz="1700">
                <a:solidFill>
                  <a:srgbClr val="B1B8C5"/>
                </a:solidFill>
                <a:latin typeface="Microsoft YaHei"/>
              </a:defRPr>
            </a:pPr>
            <a:r>
              <a:t>节目详情与选座</a:t>
            </a:r>
          </a:p>
          <a:p>
            <a:pPr>
              <a:spcAft>
                <a:spcPts val="300"/>
              </a:spcAft>
              <a:defRPr sz="1700">
                <a:solidFill>
                  <a:srgbClr val="B1B8C5"/>
                </a:solidFill>
                <a:latin typeface="Microsoft YaHei"/>
              </a:defRPr>
            </a:pPr>
            <a:r>
              <a:t>下单后锁座</a:t>
            </a:r>
          </a:p>
          <a:p>
            <a:pPr>
              <a:spcAft>
                <a:spcPts val="300"/>
              </a:spcAft>
              <a:defRPr sz="1700">
                <a:solidFill>
                  <a:srgbClr val="B1B8C5"/>
                </a:solidFill>
                <a:latin typeface="Microsoft YaHei"/>
              </a:defRPr>
            </a:pPr>
            <a:r>
              <a:t>订单异步创建</a:t>
            </a:r>
          </a:p>
          <a:p>
            <a:pPr>
              <a:spcAft>
                <a:spcPts val="300"/>
              </a:spcAft>
              <a:defRPr sz="1700">
                <a:solidFill>
                  <a:srgbClr val="B1B8C5"/>
                </a:solidFill>
                <a:latin typeface="Microsoft YaHei"/>
              </a:defRPr>
            </a:pPr>
            <a:r>
              <a:t>异常场景答辩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演示目标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把课程里的分布式组件落到一个可解释的购票链路里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411480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411480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36776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业务目标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支持节目浏览、选座、下单、支付、订单查询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用缓存和异步化承接高并发抢票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避免同一座位被重复售卖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429000" cy="411480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54864" cy="4114800"/>
          </a:xfrm>
          <a:prstGeom prst="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36776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工程目标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服务拆分：Gateway/User/Program/Order/Pay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Nacos 注册发现，Gateway 统一入口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Redis/Kafka/MySQL/ES 分工明确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29000" cy="411480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54864" cy="4114800"/>
          </a:xfrm>
          <a:prstGeom prst="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636776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答辩目标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39112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说明黑产流量如何拦截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说明锁座如何原子化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说明 Kafka/Redis/DB 故障下的策略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读多写少用缓存加速，写路径用 Redis 原子状态机和 Kafka 削峰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1508760" cy="731520"/>
          </a:xfrm>
          <a:prstGeom prst="round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1801368"/>
            <a:ext cx="136245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Vue3 前端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39" y="1965960"/>
            <a:ext cx="164593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13432" y="1600200"/>
            <a:ext cx="1508760" cy="731520"/>
          </a:xfrm>
          <a:prstGeom prst="round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1801368"/>
            <a:ext cx="136245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Gateway</a:t>
            </a:r>
            <a:br/>
            <a:r>
              <a:t>Sentinel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22191" y="1965960"/>
            <a:ext cx="164592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986783" y="1600200"/>
            <a:ext cx="1508760" cy="731520"/>
          </a:xfrm>
          <a:prstGeom prst="round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9935" y="1801368"/>
            <a:ext cx="136245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User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95544" y="1965960"/>
            <a:ext cx="164592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0136" y="1600200"/>
            <a:ext cx="1508760" cy="731520"/>
          </a:xfrm>
          <a:prstGeom prst="round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8" y="1801368"/>
            <a:ext cx="136245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Program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68896" y="1965960"/>
            <a:ext cx="164592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33488" y="1600200"/>
            <a:ext cx="1508760" cy="731520"/>
          </a:xfrm>
          <a:prstGeom prst="round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801368"/>
            <a:ext cx="136245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Order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42248" y="1965960"/>
            <a:ext cx="164592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006839" y="1600200"/>
            <a:ext cx="1508760" cy="731520"/>
          </a:xfrm>
          <a:prstGeom prst="round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9991" y="1801368"/>
            <a:ext cx="136245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Pay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788920"/>
            <a:ext cx="2103120" cy="20116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2788920"/>
            <a:ext cx="54864" cy="2011680"/>
          </a:xfrm>
          <a:prstGeom prst="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2916936"/>
            <a:ext cx="17830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Redis/Redisson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319272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座位库存缓存</a:t>
            </a:r>
          </a:p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分布式锁/幂等标记</a:t>
            </a:r>
          </a:p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延迟队列与 Stream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2788920"/>
            <a:ext cx="2103120" cy="20116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54680" y="2788920"/>
            <a:ext cx="54864" cy="2011680"/>
          </a:xfrm>
          <a:prstGeom prst="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9272" y="2916936"/>
            <a:ext cx="17830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Kafka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3319272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异步创建订单</a:t>
            </a:r>
          </a:p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削峰填谷</a:t>
            </a:r>
          </a:p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消费失败重试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2120" y="2788920"/>
            <a:ext cx="2103120" cy="20116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32120" y="2788920"/>
            <a:ext cx="54864" cy="2011680"/>
          </a:xfrm>
          <a:prstGeom prst="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6712" y="2916936"/>
            <a:ext cx="17830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MySQL + ShardingSphere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33288" y="3319272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订单/用户/支付分库分表</a:t>
            </a:r>
          </a:p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最终持久化事实源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60" y="2788920"/>
            <a:ext cx="2103120" cy="20116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09560" y="2788920"/>
            <a:ext cx="54864" cy="201168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74152" y="2916936"/>
            <a:ext cx="17830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Elasticsearch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8" y="3319272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节目检索</a:t>
            </a:r>
          </a:p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列表搜索体验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074920"/>
            <a:ext cx="9235440" cy="7315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" y="5074920"/>
            <a:ext cx="54864" cy="73152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" y="5202936"/>
            <a:ext cx="8915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核心取舍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" y="5605272"/>
            <a:ext cx="88696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抢票链路先在 Redis 完成“库存扣减 + 座位锁定”，再异步落订单；失败时回滚节目缓存，避免超卖优先于成功率。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核心下单链路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ProgramOrderV4Strategy 是演示首选路径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600200" cy="777240"/>
          </a:xfrm>
          <a:prstGeom prst="round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618488"/>
            <a:ext cx="145389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参数校验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1805940"/>
            <a:ext cx="164592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67712" y="1417320"/>
            <a:ext cx="1600200" cy="777240"/>
          </a:xfrm>
          <a:prstGeom prst="round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40864" y="1618488"/>
            <a:ext cx="145389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防重复提交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67912" y="1805940"/>
            <a:ext cx="164592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032504" y="1417320"/>
            <a:ext cx="1600200" cy="777240"/>
          </a:xfrm>
          <a:prstGeom prst="round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05656" y="1618488"/>
            <a:ext cx="145389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随机分片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32704" y="1805940"/>
            <a:ext cx="164592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97296" y="1417320"/>
            <a:ext cx="1600200" cy="777240"/>
          </a:xfrm>
          <a:prstGeom prst="round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1618488"/>
            <a:ext cx="145389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本地锁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97496" y="1805940"/>
            <a:ext cx="164592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62088" y="1417320"/>
            <a:ext cx="1600200" cy="777240"/>
          </a:xfrm>
          <a:prstGeom prst="round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1618488"/>
            <a:ext cx="145389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Redis Lua</a:t>
            </a:r>
            <a:br/>
            <a:r>
              <a:t>锁座扣库存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62288" y="1805940"/>
            <a:ext cx="164592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26880" y="1417320"/>
            <a:ext cx="1600200" cy="777240"/>
          </a:xfrm>
          <a:prstGeom prst="round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618488"/>
            <a:ext cx="145389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Kafka</a:t>
            </a:r>
            <a:br/>
            <a:r>
              <a:t>异步建单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2743200"/>
            <a:ext cx="3246120" cy="24688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2743200"/>
            <a:ext cx="54864" cy="246888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2871216"/>
            <a:ext cx="29260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为什么要分片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273552"/>
            <a:ext cx="2880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票档维度下随机 shardId 0-9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把热点座位/票档锁竞争拆散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本地锁只保护单实例内同一分片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2743200"/>
            <a:ext cx="3246120" cy="24688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743200"/>
            <a:ext cx="54864" cy="2468880"/>
          </a:xfrm>
          <a:prstGeom prst="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1" y="2871216"/>
            <a:ext cx="29260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为什么用 Lua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7" y="3273552"/>
            <a:ext cx="2880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库存扣减、座位从未售转锁定是同一个 Redis 脚本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脚本执行具备原子性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避免“查到有票但更新时被抢走”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2743200"/>
            <a:ext cx="3246120" cy="24688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2743200"/>
            <a:ext cx="54864" cy="2468880"/>
          </a:xfrm>
          <a:prstGeom prst="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2871216"/>
            <a:ext cx="2926079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为什么异步建单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273552"/>
            <a:ext cx="2880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Redis 锁座后立即返回订单号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Kafka 消费端落库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高峰期把数据库写入压力平滑掉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如何防止黑产刷流量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系统采用“入口限流 + 身份/行为校验 + 热点穿透防护”的组合拳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74320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4864" cy="4389120"/>
          </a:xfrm>
          <a:prstGeom prst="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45336"/>
            <a:ext cx="2423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入口层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2377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Gateway 接入 Sentinel 过滤器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可按路由/API 设置 QPS 规则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异常流量在进入业务服务前被挡住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1417320"/>
            <a:ext cx="274320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11880" y="1417320"/>
            <a:ext cx="54864" cy="4389120"/>
          </a:xfrm>
          <a:prstGeom prst="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1545336"/>
            <a:ext cx="2423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用户层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1947672"/>
            <a:ext cx="2377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注册/登录路径有验证码能力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UserCaptchaService 基于 Redis 计数判断是否需要验证码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注册链路有 RequestCounter 频率检查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417320"/>
            <a:ext cx="274320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60" y="1417320"/>
            <a:ext cx="54864" cy="4389120"/>
          </a:xfrm>
          <a:prstGeom prst="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1545336"/>
            <a:ext cx="2423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业务层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1947672"/>
            <a:ext cx="2377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@RepeatExecuteLimit 防止重复下单/重复取消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ProgramBloomFilterCheckHandler 拦截不存在节目 ID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签名开关支持请求体签名校验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1417320"/>
            <a:ext cx="205740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64040" y="1417320"/>
            <a:ext cx="54864" cy="438912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28632" y="1545336"/>
            <a:ext cx="17373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答辩口径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1947672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不是单点防刷</a:t>
            </a:r>
          </a:p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是多层限流</a:t>
            </a:r>
          </a:p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先保护核心资源</a:t>
            </a:r>
          </a:p>
          <a:p>
            <a:pPr>
              <a:spcAft>
                <a:spcPts val="300"/>
              </a:spcAft>
              <a:defRPr sz="1300">
                <a:solidFill>
                  <a:srgbClr val="B1B8C5"/>
                </a:solidFill>
                <a:latin typeface="Microsoft YaHei"/>
              </a:defRPr>
            </a:pPr>
            <a:r>
              <a:t>可按演示调整阈值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如何实现锁座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锁座本质是座位状态机：未售 -&gt; 锁定 -&gt; 已售/释放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874519" cy="777240"/>
          </a:xfrm>
          <a:prstGeom prst="round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664208"/>
            <a:ext cx="172821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未售座位 Hash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1851660"/>
            <a:ext cx="228600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17520" y="1463040"/>
            <a:ext cx="1874519" cy="777240"/>
          </a:xfrm>
          <a:prstGeom prst="round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0672" y="1664208"/>
            <a:ext cx="172821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Lua 原子校验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92040" y="1851660"/>
            <a:ext cx="228600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0640" y="1463040"/>
            <a:ext cx="1874519" cy="777240"/>
          </a:xfrm>
          <a:prstGeom prst="round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664208"/>
            <a:ext cx="172821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扣减余票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59" y="1851660"/>
            <a:ext cx="228600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23759" y="1463040"/>
            <a:ext cx="1874519" cy="777240"/>
          </a:xfrm>
          <a:prstGeom prst="round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6912" y="1664208"/>
            <a:ext cx="172821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迁移到锁定 Hash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098280" y="1851660"/>
            <a:ext cx="228600" cy="0"/>
          </a:xfrm>
          <a:prstGeom prst="line">
            <a:avLst/>
          </a:prstGeom>
          <a:ln w="19050">
            <a:solidFill>
              <a:srgbClr val="B1B8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326880" y="1463040"/>
            <a:ext cx="1874519" cy="777240"/>
          </a:xfrm>
          <a:prstGeom prst="round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32" y="1664208"/>
            <a:ext cx="1728216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延迟取消/支付确认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2788920"/>
            <a:ext cx="3291840" cy="24688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2788920"/>
            <a:ext cx="54864" cy="2468880"/>
          </a:xfrm>
          <a:prstGeom prst="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2916936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锁座数据结构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319272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Redis Hash 保存票档余票和座位状态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未售 Hash 与锁定 Hash 分离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按 programId + ticketCategoryId + shardId 组织 key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2788920"/>
            <a:ext cx="3291840" cy="24688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2788920"/>
            <a:ext cx="54864" cy="2468880"/>
          </a:xfrm>
          <a:prstGeom prst="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1" y="2916936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一致性动作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3319272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Lua 一次完成余票校验、扣减、座位迁移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下单失败调用 updateProgramCacheDataResolution 回滚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取消订单将锁定座位放回未售池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788920"/>
            <a:ext cx="3291840" cy="24688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2788920"/>
            <a:ext cx="54864" cy="2468880"/>
          </a:xfrm>
          <a:prstGeom prst="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11312" y="2916936"/>
            <a:ext cx="2971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超时释放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3319272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创建订单后发送延迟取消消息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未支付订单由延迟队列触发取消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释放库存与座位，防止永久占座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Kafka 挂了怎么办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当前系统策略是“失败即回滚，宁可少卖，不可超卖”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42976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4864" cy="4297680"/>
          </a:xfrm>
          <a:prstGeom prst="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发送失败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CreateOrderSend 使用 KafkaTemplate 异步发送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失败回调记录错误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调用 updateProgramCacheDataResolution 取消锁座并恢复库存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用户收到失败，可重试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42976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4864" cy="429768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消费异常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47672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CreateOrderConsumer 异常时抛出 RuntimeException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交给 Kafka/Spring 消费重试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延迟超过 5 秒的消息判定过期并回滚节目相关数据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37560" cy="429768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4864" cy="4297680"/>
          </a:xfrm>
          <a:prstGeom prst="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演示结论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947672"/>
            <a:ext cx="2971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Kafka 短暂抖动：靠重试恢复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Kafka 不可用：下单失败且锁座回滚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生产增强方向：Outbox/本地消息表 + 死信队列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Redis 挂了怎么办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购票核心强依赖 Redis，故障时应降级为不可下单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33756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54864" cy="4389120"/>
          </a:xfrm>
          <a:prstGeom prst="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为什么不能硬扛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47672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余票、座位状态、幂等标记都在 Redis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Redis 不可用时继续卖票会增加超卖风险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正确策略是保护一致性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4864" cy="4389120"/>
          </a:xfrm>
          <a:prstGeom prst="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系统已有措施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47672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Docker Compose 对 Redis 配健康检查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服务启动依赖 Redis healthy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部分节目/票档查询有多级缓存方法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失败时业务异常返回，不继续锁座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3756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54864" cy="438912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答辩口径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47672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读链路：可用本地缓存/旧缓存降级展示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写链路：熔断下单，提示稍后重试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恢复后由数据库和初始化任务重建缓存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数据库挂了怎么办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数据库是事实源；写入失败必须让缓存回到可售状态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4864" cy="4389120"/>
          </a:xfrm>
          <a:prstGeom prst="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写入路径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Program 服务先锁座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Order 服务消费 Kafka 后写库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DB 写失败会导致消费异常，消息重试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4864" cy="4389120"/>
          </a:xfrm>
          <a:prstGeom prst="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一致性保护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47672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过期消息会取消节目侧锁定状态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取消/支付订单使用订单号维度分布式锁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重复消息由 @RepeatExecuteLimit 与订单号约束防重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3756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4864" cy="4389120"/>
          </a:xfrm>
          <a:prstGeom prst="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恢复策略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947672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短故障：Kafka 暂存，恢复后继续消费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长故障：下单链路应熔断，避免锁座积压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DB 恢复后以订单表为准校正缓存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一致性模型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本系统选择最终一致性，但对“不能超卖”保持强约束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606040" cy="411480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4864" cy="4114800"/>
          </a:xfrm>
          <a:prstGeom prst="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91056"/>
            <a:ext cx="2286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强约束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93392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同一座位不能重复锁定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余票不能扣成负数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同一用户/节目不能重复提交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63040"/>
            <a:ext cx="2606040" cy="411480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54864" cy="4114800"/>
          </a:xfrm>
          <a:prstGeom prst="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591056"/>
            <a:ext cx="2286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最终一致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1993392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订单库落库可异步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未支付订单可延迟取消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缓存与 DB 可通过任务重建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2606040" cy="411480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54864" cy="4114800"/>
          </a:xfrm>
          <a:prstGeom prst="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591056"/>
            <a:ext cx="22860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补偿机制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1993392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Kafka 失败回滚锁座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过期消息取消节目侧数据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支付/取消用分布式锁串行化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63040"/>
            <a:ext cx="2240280" cy="411480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9720" y="1463040"/>
            <a:ext cx="54864" cy="411480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1591056"/>
            <a:ext cx="19202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一句话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90888" y="1993392"/>
            <a:ext cx="1874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先把座位抢占权在 Redis 里确定，再让订单系统慢慢追上。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演示流程建议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按“正常链路 -&gt; 高并发设计 -&gt; 故障答辩”展开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F1EEE8"/>
                </a:solidFill>
                <a:latin typeface="Microsoft YaHei"/>
              </a:defRPr>
            </a:pPr>
            <a:r>
              <a:t>1. 进入首页，展示节目分类、搜索与详情页，说明 Gateway + Program + ES/缓存。</a:t>
            </a:r>
          </a:p>
          <a:p>
            <a:pPr>
              <a:spcAft>
                <a:spcPts val="700"/>
              </a:spcAft>
              <a:defRPr sz="1900">
                <a:solidFill>
                  <a:srgbClr val="F1EEE8"/>
                </a:solidFill>
                <a:latin typeface="Microsoft YaHei"/>
              </a:defRPr>
            </a:pPr>
            <a:r>
              <a:t>2. 使用体验账号登录，进入选座页，选择座位并提交订单。</a:t>
            </a:r>
          </a:p>
          <a:p>
            <a:pPr>
              <a:spcAft>
                <a:spcPts val="700"/>
              </a:spcAft>
              <a:defRPr sz="1900">
                <a:solidFill>
                  <a:srgbClr val="F1EEE8"/>
                </a:solidFill>
                <a:latin typeface="Microsoft YaHei"/>
              </a:defRPr>
            </a:pPr>
            <a:r>
              <a:t>3. 讲解下单 V4：本地分片锁、Redis Lua 锁座扣库存、Kafka 异步建单。</a:t>
            </a:r>
          </a:p>
          <a:p>
            <a:pPr>
              <a:spcAft>
                <a:spcPts val="700"/>
              </a:spcAft>
              <a:defRPr sz="1900">
                <a:solidFill>
                  <a:srgbClr val="F1EEE8"/>
                </a:solidFill>
                <a:latin typeface="Microsoft YaHei"/>
              </a:defRPr>
            </a:pPr>
            <a:r>
              <a:t>4. 展示订单页或支付页，说明未支付订单会通过延迟队列释放座位。</a:t>
            </a:r>
          </a:p>
          <a:p>
            <a:pPr>
              <a:spcAft>
                <a:spcPts val="700"/>
              </a:spcAft>
              <a:defRPr sz="1900">
                <a:solidFill>
                  <a:srgbClr val="F1EEE8"/>
                </a:solidFill>
                <a:latin typeface="Microsoft YaHei"/>
              </a:defRPr>
            </a:pPr>
            <a:r>
              <a:t>5. 进入管理后台，展示节目/座位/票档管理，说明已修复刷新后管理员态丢失问题。</a:t>
            </a:r>
          </a:p>
          <a:p>
            <a:pPr>
              <a:spcAft>
                <a:spcPts val="700"/>
              </a:spcAft>
              <a:defRPr sz="1900">
                <a:solidFill>
                  <a:srgbClr val="F1EEE8"/>
                </a:solidFill>
                <a:latin typeface="Microsoft YaHei"/>
              </a:defRPr>
            </a:pPr>
            <a:r>
              <a:t>6. 老师追问故障时，按 Kafka/Redis/DB 三页答辩：失败回滚、写链路熔断、恢复后重建。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本次 Demo-Ready 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修复的是演示阻断，不处理安全漏洞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434340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4864" cy="4343400"/>
          </a:xfrm>
          <a:prstGeom prst="rect">
            <a:avLst/>
          </a:prstGeom>
          <a:solidFill>
            <a:srgbClr val="C73E3E"/>
          </a:solidFill>
          <a:ln>
            <a:solidFill>
              <a:srgbClr val="C7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45336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管理员路由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30632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问题：登录后刷新 /admin，store.mobile 丢失导致被踢回首页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修复：手机号写入 Cookie，并在 Pinia 初始化恢复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路由统一使用 userStore.isAdmin 判定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434340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17320"/>
            <a:ext cx="54864" cy="434340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545336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配置一致性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47672"/>
            <a:ext cx="30632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问题：登录页、路由、env 管理员 ID 规则不一致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修复：store 合并 env 管理员 ID 与默认体验管理员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降低答辩现场账号配置踩坑概率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434340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54864" cy="4343400"/>
          </a:xfrm>
          <a:prstGeom prst="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545336"/>
            <a:ext cx="31089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前端镜像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47672"/>
            <a:ext cx="30632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问题：Dockerfile 强依赖 package-lock.json，但仓库忽略该文件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修复：COPY package*.json，无 lockfile 时回退 npm install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干净环境可构建前端镜像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验证结果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已跑过的命令覆盖了构建和编排层面的演示阻断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3756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4864" cy="4389120"/>
          </a:xfrm>
          <a:prstGeom prst="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47672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npm install 完成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npm run build 通过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docker build ./vue3 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4864" cy="4389120"/>
          </a:xfrm>
          <a:prstGeom prst="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1947672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宿主机 Java 11 不能直接 Maven 编译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项目 Dockerfile 使用 Java 17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docker build --target build 通过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37560" cy="43891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54864" cy="438912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45336"/>
            <a:ext cx="301752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部署编排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947672"/>
            <a:ext cx="2971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docker compose config 通过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Nginx /api 代理到 Gateway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Redis/MySQL/Nacos/Kafka/ES 均有健康检查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答辩 Q&amp;A 速答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把复杂问题压缩成可讲清楚的三句话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744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1EEE8"/>
                </a:solidFill>
                <a:latin typeface="Microsoft YaHei"/>
              </a:defRPr>
            </a:pPr>
            <a:r>
              <a:t>如何防刷？Gateway Sentinel 限流、验证码/频率计数、签名开关、幂等限制、布隆过滤器，分层挡流量。</a:t>
            </a:r>
          </a:p>
          <a:p>
            <a:pPr>
              <a:spcAft>
                <a:spcPts val="900"/>
              </a:spcAft>
              <a:defRPr sz="1800">
                <a:solidFill>
                  <a:srgbClr val="F1EEE8"/>
                </a:solidFill>
                <a:latin typeface="Microsoft YaHei"/>
              </a:defRPr>
            </a:pPr>
            <a:r>
              <a:t>如何锁座？Redis Lua 原子完成余票校验、扣减和座位状态迁移；失败和超时再补偿释放。</a:t>
            </a:r>
          </a:p>
          <a:p>
            <a:pPr>
              <a:spcAft>
                <a:spcPts val="900"/>
              </a:spcAft>
              <a:defRPr sz="1800">
                <a:solidFill>
                  <a:srgbClr val="F1EEE8"/>
                </a:solidFill>
                <a:latin typeface="Microsoft YaHei"/>
              </a:defRPr>
            </a:pPr>
            <a:r>
              <a:t>Kafka 挂了？发送失败立即回滚锁座；消费失败重试；长时间异常时下单失败，不让缓存形成虚假锁定。</a:t>
            </a:r>
          </a:p>
          <a:p>
            <a:pPr>
              <a:spcAft>
                <a:spcPts val="900"/>
              </a:spcAft>
              <a:defRPr sz="1800">
                <a:solidFill>
                  <a:srgbClr val="F1EEE8"/>
                </a:solidFill>
                <a:latin typeface="Microsoft YaHei"/>
              </a:defRPr>
            </a:pPr>
            <a:r>
              <a:t>Redis 挂了？核心购票链路熔断，不继续卖票；读链路可用本地/旧缓存降级；恢复后从 DB 重建缓存。</a:t>
            </a:r>
          </a:p>
          <a:p>
            <a:pPr>
              <a:spcAft>
                <a:spcPts val="900"/>
              </a:spcAft>
              <a:defRPr sz="1800">
                <a:solidFill>
                  <a:srgbClr val="F1EEE8"/>
                </a:solidFill>
                <a:latin typeface="Microsoft YaHei"/>
              </a:defRPr>
            </a:pPr>
            <a:r>
              <a:t>数据库挂了？Kafka 可短时间缓冲，DB 恢复后继续消费；长故障熔断写入，避免锁座积压；以 DB 为最终事实源。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700" b="1">
                <a:solidFill>
                  <a:srgbClr val="F1EEE8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106070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00" b="0">
                <a:solidFill>
                  <a:srgbClr val="B1B8C5"/>
                </a:solidFill>
                <a:latin typeface="Microsoft YaHei"/>
              </a:defRPr>
            </a:pPr>
            <a:r>
              <a:t>演示重点不是组件堆砌，而是故障下如何保护业务不出错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15568"/>
            <a:ext cx="10972800" cy="27432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3154680" cy="39319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54864" cy="3931920"/>
          </a:xfrm>
          <a:prstGeom prst="rect">
            <a:avLst/>
          </a:prstGeom>
          <a:solidFill>
            <a:srgbClr val="49AB7B"/>
          </a:solidFill>
          <a:ln>
            <a:solidFill>
              <a:srgbClr val="49A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591056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可演示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993392"/>
            <a:ext cx="27889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前端构建可用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Docker 编排可解析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Java 17 Docker 构建可用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63040"/>
            <a:ext cx="3154680" cy="39319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463040"/>
            <a:ext cx="54864" cy="3931920"/>
          </a:xfrm>
          <a:prstGeom prst="rect">
            <a:avLst/>
          </a:prstGeom>
          <a:solidFill>
            <a:srgbClr val="DAAE5C"/>
          </a:solidFill>
          <a:ln>
            <a:solidFill>
              <a:srgbClr val="DAA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591056"/>
            <a:ext cx="28346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可解释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1993392"/>
            <a:ext cx="278892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下单链路有明确状态机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防刷/锁座/异步/补偿逻辑能对应代码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故障策略能讲清边界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2743200" cy="3931920"/>
          </a:xfrm>
          <a:prstGeom prst="roundRect">
            <a:avLst/>
          </a:prstGeom>
          <a:solidFill>
            <a:srgbClr val="181C24"/>
          </a:solidFill>
          <a:ln>
            <a:solidFill>
              <a:srgbClr val="5B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63040"/>
            <a:ext cx="54864" cy="3931920"/>
          </a:xfrm>
          <a:prstGeom prst="rect">
            <a:avLst/>
          </a:prstGeom>
          <a:solidFill>
            <a:srgbClr val="5291DC"/>
          </a:solidFill>
          <a:ln>
            <a:solidFill>
              <a:srgbClr val="529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591056"/>
            <a:ext cx="24231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F1EEE8"/>
                </a:solidFill>
                <a:latin typeface="Microsoft YaHei"/>
              </a:defRPr>
            </a:pPr>
            <a:r>
              <a:t>可扩展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1993392"/>
            <a:ext cx="237744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生产增强：Outbox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Redis 高可用集群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DB 主从/备份</a:t>
            </a:r>
          </a:p>
          <a:p>
            <a:pPr>
              <a:spcAft>
                <a:spcPts val="300"/>
              </a:spcAft>
              <a:defRPr sz="1500">
                <a:solidFill>
                  <a:srgbClr val="B1B8C5"/>
                </a:solidFill>
                <a:latin typeface="Microsoft YaHei"/>
              </a:defRPr>
            </a:pPr>
            <a:r>
              <a:t>死信队列与对账任务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81360" y="6446520"/>
            <a:ext cx="731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>
              <a:defRPr sz="1000" b="0">
                <a:solidFill>
                  <a:srgbClr val="B1B8C5"/>
                </a:solidFill>
                <a:latin typeface="Microsoft YaHe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