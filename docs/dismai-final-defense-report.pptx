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7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502920" cy="502920"/>
          </a:xfrm>
          <a:prstGeom prst="roundRect">
            <a:avLst/>
          </a:prstGeom>
          <a:solidFill>
            <a:srgbClr val="17345F"/>
          </a:solidFill>
          <a:ln w="2032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576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212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033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8638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66376"/>
                </a:solidFill>
                <a:latin typeface="Microsoft YaHei"/>
              </a:defRPr>
            </a:pPr>
            <a:r>
              <a:t>高并发在线票务系统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47B20"/>
                </a:solidFill>
                <a:latin typeface="Microsoft YaHei"/>
              </a:defRPr>
            </a:pPr>
            <a:r>
              <a:t>高并发在线票务系统设计、实现与故障应对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分布式软件原理与技术 · 期末大作业展示报告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重点回答：黑产流量如何拦截、锁座如何不超卖、Kafka / Redis / 数据库故障时系统如何保护一致性。</a:t>
            </a:r>
          </a:p>
        </p:txBody>
      </p:sp>
      <p:pic>
        <p:nvPicPr>
          <p:cNvPr id="11" name="Picture 10" descr="hero-tic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17320"/>
            <a:ext cx="4983480" cy="27889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5120640"/>
            <a:ext cx="1600200" cy="603504"/>
          </a:xfrm>
          <a:prstGeom prst="rect">
            <a:avLst/>
          </a:prstGeom>
          <a:solidFill>
            <a:srgbClr val="32527D"/>
          </a:solidFill>
          <a:ln>
            <a:solidFill>
              <a:srgbClr val="5F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0293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30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微服务与框架模块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79" y="5120640"/>
            <a:ext cx="1600200" cy="603504"/>
          </a:xfrm>
          <a:prstGeom prst="rect">
            <a:avLst/>
          </a:prstGeom>
          <a:solidFill>
            <a:srgbClr val="32527D"/>
          </a:solidFill>
          <a:ln>
            <a:solidFill>
              <a:srgbClr val="5F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520293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230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下单策略演进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5120640"/>
            <a:ext cx="1600200" cy="603504"/>
          </a:xfrm>
          <a:prstGeom prst="rect">
            <a:avLst/>
          </a:prstGeom>
          <a:solidFill>
            <a:srgbClr val="32527D"/>
          </a:solidFill>
          <a:ln>
            <a:solidFill>
              <a:srgbClr val="5F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520293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230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超卖作为设计底线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999" cy="73152"/>
          </a:xfrm>
          <a:prstGeom prst="rect">
            <a:avLst/>
          </a:prstGeom>
          <a:solidFill>
            <a:srgbClr val="17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502920" cy="502920"/>
          </a:xfrm>
          <a:prstGeom prst="roundRect">
            <a:avLst/>
          </a:prstGeom>
          <a:solidFill>
            <a:srgbClr val="17345F"/>
          </a:solidFill>
          <a:ln w="2032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389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4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033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6492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66376"/>
                </a:solidFill>
                <a:latin typeface="Microsoft YaHei"/>
              </a:defRPr>
            </a:pPr>
            <a:r>
              <a:t>高并发在线票务系统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033"/>
                </a:solidFill>
                <a:latin typeface="Microsoft YaHei"/>
              </a:defRPr>
            </a:pPr>
            <a:r>
              <a:t>汇报结构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361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6"/>
                </a:solidFill>
                <a:latin typeface="Microsoft YaHei"/>
              </a:defRPr>
            </a:pPr>
            <a:r>
              <a:t>先讲业务挑战，再讲架构与关键链路，最后集中回答故障场景。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1155680" cy="18288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50292" cy="3200400"/>
          </a:xfrm>
          <a:prstGeom prst="rect">
            <a:avLst/>
          </a:prstGeom>
          <a:solidFill>
            <a:srgbClr val="B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业务与挑战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热点节目开售瞬间 QPS 激增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同一票档和座位被大量请求争抢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黑产、重复提交、超卖风险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331720"/>
            <a:ext cx="50292" cy="3200400"/>
          </a:xfrm>
          <a:prstGeom prst="rect">
            <a:avLst/>
          </a:prstGeom>
          <a:solidFill>
            <a:srgbClr val="2F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10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系统设计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7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微服务职责拆分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读写路径分离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Redis 锁座状态机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6760" y="4032503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Kafka 异步建单削峰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19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1960" y="2331720"/>
            <a:ext cx="50292" cy="3200400"/>
          </a:xfrm>
          <a:prstGeom prst="rect">
            <a:avLst/>
          </a:prstGeom>
          <a:solidFill>
            <a:srgbClr val="2D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48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故障答辩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5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Kafka 挂了怎么办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Redis 挂了怎么办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05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数据库挂了怎么办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560" y="4032503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为什么宁可少卖不可超卖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66376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architectur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999" cy="73152"/>
          </a:xfrm>
          <a:prstGeom prst="rect">
            <a:avLst/>
          </a:prstGeom>
          <a:solidFill>
            <a:srgbClr val="17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502920" cy="502920"/>
          </a:xfrm>
          <a:prstGeom prst="roundRect">
            <a:avLst/>
          </a:prstGeom>
          <a:solidFill>
            <a:srgbClr val="17345F"/>
          </a:solidFill>
          <a:ln w="2032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389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4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033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6492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66376"/>
                </a:solidFill>
                <a:latin typeface="Microsoft YaHei"/>
              </a:defRPr>
            </a:pPr>
            <a:r>
              <a:t>高并发在线票务系统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033"/>
                </a:solidFill>
                <a:latin typeface="Microsoft YaHei"/>
              </a:defRPr>
            </a:pPr>
            <a:r>
              <a:t>课程知识点与项目落点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361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6"/>
                </a:solidFill>
                <a:latin typeface="Microsoft YaHei"/>
              </a:defRPr>
            </a:pPr>
            <a:r>
              <a:t>每个组件都有明确职责，不为了使用技术而使用技术。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1155680" cy="18288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50292" cy="3200400"/>
          </a:xfrm>
          <a:prstGeom prst="rect">
            <a:avLst/>
          </a:prstGeom>
          <a:solidFill>
            <a:srgbClr val="2F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服务拆分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User / Program / Order / 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职责边界清晰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85031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独立演进与扩缩容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4710" y="2331720"/>
            <a:ext cx="50292" cy="3200400"/>
          </a:xfrm>
          <a:prstGeom prst="rect">
            <a:avLst/>
          </a:prstGeom>
          <a:solidFill>
            <a:srgbClr val="B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759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缓存与热点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331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Redis 保存余票和座位状态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331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避免所有请求打到数据库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3310" y="3685031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Lua 保证状态迁移原子性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506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5060" y="2331720"/>
            <a:ext cx="50292" cy="3200400"/>
          </a:xfrm>
          <a:prstGeom prst="rect">
            <a:avLst/>
          </a:prstGeom>
          <a:solidFill>
            <a:srgbClr val="C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794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消息队列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366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Kafka 异步创建订单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366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削峰填谷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3660" y="3685031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用重试与补偿实现最终一致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9541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95410" y="2331720"/>
            <a:ext cx="50292" cy="3200400"/>
          </a:xfrm>
          <a:prstGeom prst="rect">
            <a:avLst/>
          </a:prstGeom>
          <a:solidFill>
            <a:srgbClr val="2D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829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容错恢复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401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失败回滚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401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延迟取消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4010" y="3685031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健康检查与熔断边界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66376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999" cy="73152"/>
          </a:xfrm>
          <a:prstGeom prst="rect">
            <a:avLst/>
          </a:prstGeom>
          <a:solidFill>
            <a:srgbClr val="17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502920" cy="502920"/>
          </a:xfrm>
          <a:prstGeom prst="roundRect">
            <a:avLst/>
          </a:prstGeom>
          <a:solidFill>
            <a:srgbClr val="17345F"/>
          </a:solidFill>
          <a:ln w="2032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389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4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033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6492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66376"/>
                </a:solidFill>
                <a:latin typeface="Microsoft YaHei"/>
              </a:defRPr>
            </a:pPr>
            <a:r>
              <a:t>高并发在线票务系统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033"/>
                </a:solidFill>
                <a:latin typeface="Microsoft YaHei"/>
              </a:defRPr>
            </a:pPr>
            <a:r>
              <a:t>核心下单链路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361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6"/>
                </a:solidFill>
                <a:latin typeface="Microsoft YaHei"/>
              </a:defRPr>
            </a:pPr>
            <a:r>
              <a:t>下单 V4 把高并发冲突控制在 Redis 原子脚本之前，并将数据库写入异步化。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1155680" cy="18288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50292" cy="3200400"/>
          </a:xfrm>
          <a:prstGeom prst="rect">
            <a:avLst/>
          </a:prstGeom>
          <a:solidFill>
            <a:srgbClr val="2F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1 参数校验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组合校验器检查用户、节目、票档、购票人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布隆过滤器减少无效节目访问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4710" y="2331720"/>
            <a:ext cx="50292" cy="3200400"/>
          </a:xfrm>
          <a:prstGeom prst="rect">
            <a:avLst/>
          </a:prstGeom>
          <a:solidFill>
            <a:srgbClr val="B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759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2 幂等与分片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@RepeatExecuteLimit 防重复提交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331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随机 shardId 拆散热点竞争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6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2331720"/>
            <a:ext cx="50292" cy="3200400"/>
          </a:xfrm>
          <a:prstGeom prst="rect">
            <a:avLst/>
          </a:prstGeom>
          <a:solidFill>
            <a:srgbClr val="2D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3 Redis 锁座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66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Lua 原子扣库存和迁移座位状态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366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失败时补偿释放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9541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95410" y="2331720"/>
            <a:ext cx="50292" cy="3200400"/>
          </a:xfrm>
          <a:prstGeom prst="rect">
            <a:avLst/>
          </a:prstGeom>
          <a:solidFill>
            <a:srgbClr val="C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829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4 Kafka 建单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401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异步写订单表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延迟队列释放未支付订单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66376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anti-abuse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eat-lock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999" cy="73152"/>
          </a:xfrm>
          <a:prstGeom prst="rect">
            <a:avLst/>
          </a:prstGeom>
          <a:solidFill>
            <a:srgbClr val="17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502920" cy="502920"/>
          </a:xfrm>
          <a:prstGeom prst="roundRect">
            <a:avLst/>
          </a:prstGeom>
          <a:solidFill>
            <a:srgbClr val="17345F"/>
          </a:solidFill>
          <a:ln w="2032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389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4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033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6492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66376"/>
                </a:solidFill>
                <a:latin typeface="Microsoft YaHei"/>
              </a:defRPr>
            </a:pPr>
            <a:r>
              <a:t>高并发在线票务系统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033"/>
                </a:solidFill>
                <a:latin typeface="Microsoft YaHei"/>
              </a:defRPr>
            </a:pPr>
            <a:r>
              <a:t>为什么这个锁座方案不会超卖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361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6"/>
                </a:solidFill>
                <a:latin typeface="Microsoft YaHei"/>
              </a:defRPr>
            </a:pPr>
            <a:r>
              <a:t>把“互斥”问题转化为 Redis 单线程脚本中的状态迁移问题。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1155680" cy="18288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50292" cy="3200400"/>
          </a:xfrm>
          <a:prstGeom prst="rect">
            <a:avLst/>
          </a:prstGeom>
          <a:solidFill>
            <a:srgbClr val="B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并发风险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两个用户同时选择同一座位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多人同时购买同一票档余票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订单落库慢于抢票请求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331720"/>
            <a:ext cx="50292" cy="3200400"/>
          </a:xfrm>
          <a:prstGeom prst="rect">
            <a:avLst/>
          </a:prstGeom>
          <a:solidFill>
            <a:srgbClr val="2D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10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系统约束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7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座位是否可卖以 Redis 状态为准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扣库存和锁座在同一 Lua 脚本完成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失败时只做补偿释放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19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1960" y="2331720"/>
            <a:ext cx="50292" cy="3200400"/>
          </a:xfrm>
          <a:prstGeom prst="rect">
            <a:avLst/>
          </a:prstGeom>
          <a:solidFill>
            <a:srgbClr val="2F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48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核心不变量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一个座位只能处于未售、锁定、已售之一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5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订单异步落库不改变抢占权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超时未支付必须释放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66376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kafka-failure-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redis-db-failur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999" cy="73152"/>
          </a:xfrm>
          <a:prstGeom prst="rect">
            <a:avLst/>
          </a:prstGeom>
          <a:solidFill>
            <a:srgbClr val="17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502920" cy="502920"/>
          </a:xfrm>
          <a:prstGeom prst="roundRect">
            <a:avLst/>
          </a:prstGeom>
          <a:solidFill>
            <a:srgbClr val="17345F"/>
          </a:solidFill>
          <a:ln w="2032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389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4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033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6492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66376"/>
                </a:solidFill>
                <a:latin typeface="Microsoft YaHei"/>
              </a:defRPr>
            </a:pPr>
            <a:r>
              <a:t>高并发在线票务系统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033"/>
                </a:solidFill>
                <a:latin typeface="Microsoft YaHei"/>
              </a:defRPr>
            </a:pPr>
            <a:r>
              <a:t>本次 Demo-Ready 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361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6"/>
                </a:solidFill>
                <a:latin typeface="Microsoft YaHei"/>
              </a:defRPr>
            </a:pPr>
            <a:r>
              <a:t>修复现场演示会直接失败的问题，不把安全漏洞纳入本次范围。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1155680" cy="18288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50292" cy="3200400"/>
          </a:xfrm>
          <a:prstGeom prst="rect">
            <a:avLst/>
          </a:prstGeom>
          <a:solidFill>
            <a:srgbClr val="B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管理员状态丢失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刷新 /admin 后 store.mobile 为空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管理员被路由守卫踢回首页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影响后台展示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331720"/>
            <a:ext cx="50292" cy="3200400"/>
          </a:xfrm>
          <a:prstGeom prst="rect">
            <a:avLst/>
          </a:prstGeom>
          <a:solidFill>
            <a:srgbClr val="2D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10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修复方式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7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手机号写入 Cookie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Pinia 初始化恢复手机号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路由和登录页统一使用 userStore.isAdmin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19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1960" y="2331720"/>
            <a:ext cx="50292" cy="3200400"/>
          </a:xfrm>
          <a:prstGeom prst="rect">
            <a:avLst/>
          </a:prstGeom>
          <a:solidFill>
            <a:srgbClr val="C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48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Dockerfile 修复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原先强依赖 package-lock.json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5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但 lockfile 被 .gitignore 忽略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改为 package*.json，缺 lockfile 时 npm install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66376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999" cy="73152"/>
          </a:xfrm>
          <a:prstGeom prst="rect">
            <a:avLst/>
          </a:prstGeom>
          <a:solidFill>
            <a:srgbClr val="17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502920" cy="502920"/>
          </a:xfrm>
          <a:prstGeom prst="roundRect">
            <a:avLst/>
          </a:prstGeom>
          <a:solidFill>
            <a:srgbClr val="17345F"/>
          </a:solidFill>
          <a:ln w="2032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389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4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033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6492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66376"/>
                </a:solidFill>
                <a:latin typeface="Microsoft YaHei"/>
              </a:defRPr>
            </a:pPr>
            <a:r>
              <a:t>高并发在线票务系统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033"/>
                </a:solidFill>
                <a:latin typeface="Microsoft YaHei"/>
              </a:defRPr>
            </a:pPr>
            <a:r>
              <a:t>验证结果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361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6"/>
                </a:solidFill>
                <a:latin typeface="Microsoft YaHei"/>
              </a:defRPr>
            </a:pPr>
            <a:r>
              <a:t>覆盖前端构建、前端镜像、Compose 编排、后端 Java 17 Docker 构建路径。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1155680" cy="18288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50292" cy="3200400"/>
          </a:xfrm>
          <a:prstGeom prst="rect">
            <a:avLst/>
          </a:prstGeom>
          <a:solidFill>
            <a:srgbClr val="2D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通过项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npm run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docker build ./vue3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docker compose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32503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docker build --target build 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81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8160" y="2331720"/>
            <a:ext cx="50292" cy="3200400"/>
          </a:xfrm>
          <a:prstGeom prst="rect">
            <a:avLst/>
          </a:prstGeom>
          <a:solidFill>
            <a:srgbClr val="C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10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环境说明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宿主机 Java 11 不能直接 Maven 编译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项目要求 Java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67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Docker 构建路径使用 Java 17 并通过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1960" y="2331720"/>
            <a:ext cx="350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1960" y="2331720"/>
            <a:ext cx="50292" cy="3200400"/>
          </a:xfrm>
          <a:prstGeom prst="rect">
            <a:avLst/>
          </a:prstGeom>
          <a:solidFill>
            <a:srgbClr val="2F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4840" y="2532888"/>
            <a:ext cx="318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展示结论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560" y="2990087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前端页面可构建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3337559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Compose 编排可解析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0560" y="3685031"/>
            <a:ext cx="3093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后端按 Docker 路径可构建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66376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999" cy="73152"/>
          </a:xfrm>
          <a:prstGeom prst="rect">
            <a:avLst/>
          </a:prstGeom>
          <a:solidFill>
            <a:srgbClr val="17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502920" cy="502920"/>
          </a:xfrm>
          <a:prstGeom prst="roundRect">
            <a:avLst/>
          </a:prstGeom>
          <a:solidFill>
            <a:srgbClr val="17345F"/>
          </a:solidFill>
          <a:ln w="2032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389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4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033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64922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66376"/>
                </a:solidFill>
                <a:latin typeface="Microsoft YaHei"/>
              </a:defRPr>
            </a:pPr>
            <a:r>
              <a:t>高并发在线票务系统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033"/>
                </a:solidFill>
                <a:latin typeface="Microsoft YaHei"/>
              </a:defRPr>
            </a:pPr>
            <a:r>
              <a:t>答辩速答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361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6"/>
                </a:solidFill>
                <a:latin typeface="Microsoft YaHei"/>
              </a:defRPr>
            </a:pPr>
            <a:r>
              <a:t>每个问题都压缩成一句结论，再补一个系统实现点。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1155680" cy="18288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50292" cy="3200400"/>
          </a:xfrm>
          <a:prstGeom prst="rect">
            <a:avLst/>
          </a:prstGeom>
          <a:solidFill>
            <a:srgbClr val="2F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如何防刷？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Gateway Sentinel、验证码计数、签名、幂等限制、布隆过滤器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分层挡流量，保护库存链路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4710" y="2331720"/>
            <a:ext cx="50292" cy="3200400"/>
          </a:xfrm>
          <a:prstGeom prst="rect">
            <a:avLst/>
          </a:prstGeom>
          <a:solidFill>
            <a:srgbClr val="2D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759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如何锁座？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Redis Lua 原子扣库存并迁移座位状态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331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失败和超时再补偿释放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6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2331720"/>
            <a:ext cx="50292" cy="3200400"/>
          </a:xfrm>
          <a:prstGeom prst="rect">
            <a:avLst/>
          </a:prstGeom>
          <a:solidFill>
            <a:srgbClr val="C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Kafka 挂？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66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发送失败回滚，消费失败重试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366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长期不可用则下单失败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95410" y="2331720"/>
            <a:ext cx="257175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95410" y="2331720"/>
            <a:ext cx="50292" cy="3200400"/>
          </a:xfrm>
          <a:prstGeom prst="rect">
            <a:avLst/>
          </a:prstGeom>
          <a:solidFill>
            <a:srgbClr val="B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8290" y="2532888"/>
            <a:ext cx="22517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033"/>
                </a:solidFill>
                <a:latin typeface="Microsoft YaHei"/>
              </a:defRPr>
            </a:pPr>
            <a:r>
              <a:t>Redis / DB 挂？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4010" y="2990087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Redis 挂：写链路熔断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3337559"/>
            <a:ext cx="2160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6"/>
                </a:solidFill>
                <a:latin typeface="Microsoft YaHei"/>
              </a:defRPr>
            </a:pPr>
            <a:r>
              <a:t>- DB 挂：短缓冲、长熔断、恢复后对账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66376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